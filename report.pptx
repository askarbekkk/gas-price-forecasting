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22960" y="3246120"/>
            <a:ext cx="2011680" cy="38100"/>
          </a:xfrm>
          <a:prstGeom prst="rect">
            <a:avLst/>
          </a:prstGeom>
          <a:solidFill>
            <a:srgbClr val="5B7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233172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FFFFFF"/>
                </a:solidFill>
                <a:latin typeface="Calibri"/>
              </a:rPr>
              <a:t>Henry Hub Natural Gas Price Forecasting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290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D0D8E2"/>
                </a:solidFill>
                <a:latin typeface="Calibri"/>
              </a:rPr>
              <a:t>1-, 2-, and 3-Month-Ahead Forecast  |  Walk-Forward Backtest, Sep 2020 - Aug 2024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035040"/>
            <a:ext cx="2412392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300" dirty="0">
                <a:solidFill>
                  <a:srgbClr val="9AA9B8"/>
                </a:solidFill>
                <a:latin typeface="Calibri"/>
              </a:rPr>
              <a:t>Askar </a:t>
            </a:r>
            <a:r>
              <a:rPr lang="en-US" sz="1300" dirty="0" err="1">
                <a:solidFill>
                  <a:srgbClr val="9AA9B8"/>
                </a:solidFill>
                <a:latin typeface="Calibri"/>
              </a:rPr>
              <a:t>Shamshidinov</a:t>
            </a:r>
            <a:r>
              <a:rPr lang="en-US" sz="1300" dirty="0">
                <a:solidFill>
                  <a:srgbClr val="9AA9B8"/>
                </a:solidFill>
                <a:latin typeface="Calibri"/>
              </a:rPr>
              <a:t>,  2026.07.18</a:t>
            </a:r>
            <a:endParaRPr sz="1300" dirty="0">
              <a:solidFill>
                <a:srgbClr val="9AA9B8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C3E50"/>
                </a:solidFill>
                <a:latin typeface="Calibri"/>
              </a:rPr>
              <a:t>Problem &amp; Data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1094415" cy="27940"/>
          </a:xfrm>
          <a:prstGeom prst="rect">
            <a:avLst/>
          </a:prstGeom>
          <a:solidFill>
            <a:srgbClr val="5B7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9441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45"/>
              </a:spcAft>
            </a:pPr>
            <a:r>
              <a:rPr sz="1900" b="1" dirty="0">
                <a:solidFill>
                  <a:srgbClr val="5B7FB5"/>
                </a:solidFill>
                <a:latin typeface="Calibri"/>
              </a:rPr>
              <a:t>•  </a:t>
            </a:r>
            <a:r>
              <a:rPr sz="1900" dirty="0">
                <a:solidFill>
                  <a:srgbClr val="333333"/>
                </a:solidFill>
                <a:latin typeface="Calibri"/>
              </a:rPr>
              <a:t>Forecast Henry Hub spot price 1, 2, and 3 months ahead for each date in a 48-month test window (Sep 2020 – Aug 2024)</a:t>
            </a:r>
          </a:p>
          <a:p>
            <a:pPr>
              <a:lnSpc>
                <a:spcPct val="115000"/>
              </a:lnSpc>
              <a:spcAft>
                <a:spcPts val="1045"/>
              </a:spcAft>
            </a:pPr>
            <a:r>
              <a:rPr sz="1900" b="1" dirty="0">
                <a:solidFill>
                  <a:srgbClr val="5B7FB5"/>
                </a:solidFill>
                <a:latin typeface="Calibri"/>
              </a:rPr>
              <a:t>•  </a:t>
            </a:r>
            <a:r>
              <a:rPr sz="1900" dirty="0">
                <a:solidFill>
                  <a:srgbClr val="333333"/>
                </a:solidFill>
                <a:latin typeface="Calibri"/>
              </a:rPr>
              <a:t>Walk-forward constraint: at date t, only data up to and including t may be used — no information from the future</a:t>
            </a:r>
          </a:p>
          <a:p>
            <a:pPr>
              <a:lnSpc>
                <a:spcPct val="115000"/>
              </a:lnSpc>
              <a:spcAft>
                <a:spcPts val="1045"/>
              </a:spcAft>
            </a:pPr>
            <a:r>
              <a:rPr sz="1900" b="1" dirty="0">
                <a:solidFill>
                  <a:srgbClr val="5B7FB5"/>
                </a:solidFill>
                <a:latin typeface="Calibri"/>
              </a:rPr>
              <a:t>•  </a:t>
            </a:r>
            <a:r>
              <a:rPr sz="1900" dirty="0">
                <a:solidFill>
                  <a:srgbClr val="333333"/>
                </a:solidFill>
                <a:latin typeface="Calibri"/>
              </a:rPr>
              <a:t>Evaluation metric: MAPE, computed separately for each horizon</a:t>
            </a:r>
          </a:p>
          <a:p>
            <a:pPr>
              <a:lnSpc>
                <a:spcPct val="115000"/>
              </a:lnSpc>
              <a:spcAft>
                <a:spcPts val="1045"/>
              </a:spcAft>
            </a:pPr>
            <a:r>
              <a:rPr sz="1900" b="1" dirty="0">
                <a:solidFill>
                  <a:srgbClr val="5B7FB5"/>
                </a:solidFill>
                <a:latin typeface="Calibri"/>
              </a:rPr>
              <a:t>•  </a:t>
            </a:r>
            <a:r>
              <a:rPr sz="1900" dirty="0">
                <a:solidFill>
                  <a:srgbClr val="333333"/>
                </a:solidFill>
                <a:latin typeface="Calibri"/>
              </a:rPr>
              <a:t>Data: 204 monthly training rows (Sep 2003 – Aug 2020), 114 candidate variables — energy prices, macro/FX indicators, PMIs, storage, temperature</a:t>
            </a:r>
          </a:p>
          <a:p>
            <a:pPr>
              <a:lnSpc>
                <a:spcPct val="115000"/>
              </a:lnSpc>
              <a:spcAft>
                <a:spcPts val="1045"/>
              </a:spcAft>
            </a:pPr>
            <a:r>
              <a:rPr sz="1900" b="1" dirty="0">
                <a:solidFill>
                  <a:srgbClr val="5B7FB5"/>
                </a:solidFill>
                <a:latin typeface="Calibri"/>
              </a:rPr>
              <a:t>•  </a:t>
            </a:r>
            <a:r>
              <a:rPr sz="1900" dirty="0">
                <a:solidFill>
                  <a:srgbClr val="333333"/>
                </a:solidFill>
                <a:latin typeface="Calibri"/>
              </a:rPr>
              <a:t>Core risk: far more candidate features (114) than training rows (204) — overfitting, not model capacity, is the main threat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B6B6B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C3E50"/>
                </a:solidFill>
                <a:latin typeface="Calibri"/>
              </a:rPr>
              <a:t>Data Cleaning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1094415" cy="27940"/>
          </a:xfrm>
          <a:prstGeom prst="rect">
            <a:avLst/>
          </a:prstGeom>
          <a:solidFill>
            <a:srgbClr val="5B7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9441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45"/>
              </a:spcAft>
            </a:pPr>
            <a:r>
              <a:rPr sz="1900" b="1">
                <a:solidFill>
                  <a:srgbClr val="5B7FB5"/>
                </a:solidFill>
                <a:latin typeface="Calibri"/>
              </a:rPr>
              <a:t>•  </a:t>
            </a:r>
            <a:r>
              <a:rPr sz="1900">
                <a:solidFill>
                  <a:srgbClr val="333333"/>
                </a:solidFill>
                <a:latin typeface="Calibri"/>
              </a:rPr>
              <a:t>Services_PMI and Construction_PMI are 100% missing in training data → dropped</a:t>
            </a:r>
          </a:p>
          <a:p>
            <a:pPr>
              <a:lnSpc>
                <a:spcPct val="115000"/>
              </a:lnSpc>
              <a:spcAft>
                <a:spcPts val="1045"/>
              </a:spcAft>
            </a:pPr>
            <a:r>
              <a:rPr sz="1900" b="1">
                <a:solidFill>
                  <a:srgbClr val="5B7FB5"/>
                </a:solidFill>
                <a:latin typeface="Calibri"/>
              </a:rPr>
              <a:t>•  </a:t>
            </a:r>
            <a:r>
              <a:rPr sz="1900">
                <a:solidFill>
                  <a:srgbClr val="333333"/>
                </a:solidFill>
                <a:latin typeface="Calibri"/>
              </a:rPr>
              <a:t>6 further columns exceed 40% missing (Comprehensive_PMI, EU gas storage &amp; LNG inventories, Heating_Oil_Price_USA, related PMI sub-components) → dropped rather than imputed</a:t>
            </a:r>
          </a:p>
          <a:p>
            <a:pPr>
              <a:lnSpc>
                <a:spcPct val="115000"/>
              </a:lnSpc>
              <a:spcAft>
                <a:spcPts val="1045"/>
              </a:spcAft>
            </a:pPr>
            <a:r>
              <a:rPr sz="1700" b="1">
                <a:solidFill>
                  <a:srgbClr val="6B6B6B"/>
                </a:solidFill>
                <a:latin typeface="Calibri"/>
              </a:rPr>
              <a:t>-  </a:t>
            </a:r>
            <a:r>
              <a:rPr sz="1700">
                <a:solidFill>
                  <a:srgbClr val="333333"/>
                </a:solidFill>
                <a:latin typeface="Calibri"/>
              </a:rPr>
              <a:t>With only 204 rows, imputing a column that is missing more than 40% of its history manufactures signal that isn't really there</a:t>
            </a:r>
          </a:p>
          <a:p>
            <a:pPr>
              <a:lnSpc>
                <a:spcPct val="115000"/>
              </a:lnSpc>
              <a:spcAft>
                <a:spcPts val="1045"/>
              </a:spcAft>
            </a:pPr>
            <a:r>
              <a:rPr sz="1900" b="1">
                <a:solidFill>
                  <a:srgbClr val="5B7FB5"/>
                </a:solidFill>
                <a:latin typeface="Calibri"/>
              </a:rPr>
              <a:t>•  </a:t>
            </a:r>
            <a:r>
              <a:rPr sz="1900">
                <a:solidFill>
                  <a:srgbClr val="333333"/>
                </a:solidFill>
                <a:latin typeface="Calibri"/>
              </a:rPr>
              <a:t>No external data sources added — a deliberate scope decision given the timeframe, not an oversight (see Next Steps)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B6B6B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C3E50"/>
                </a:solidFill>
                <a:latin typeface="Calibri"/>
              </a:rPr>
              <a:t>Price History &amp; Regimes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1094415" cy="27940"/>
          </a:xfrm>
          <a:prstGeom prst="rect">
            <a:avLst/>
          </a:prstGeom>
          <a:solidFill>
            <a:srgbClr val="5B7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49377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990"/>
              </a:spcAft>
            </a:pPr>
            <a:r>
              <a:rPr sz="1800" b="1">
                <a:solidFill>
                  <a:srgbClr val="5B7FB5"/>
                </a:solidFill>
                <a:latin typeface="Calibri"/>
              </a:rPr>
              <a:t>•  </a:t>
            </a:r>
            <a:r>
              <a:rPr sz="1800">
                <a:solidFill>
                  <a:srgbClr val="333333"/>
                </a:solidFill>
                <a:latin typeface="Calibri"/>
              </a:rPr>
              <a:t>Four regimes: the 2005–08 run-up and crash, a long 2012–2019 range around $2–4, the 2021 Texas freeze into the 2022 Ukraine-driven spike, and the 2023 unwind</a:t>
            </a:r>
          </a:p>
          <a:p>
            <a:pPr>
              <a:lnSpc>
                <a:spcPct val="115000"/>
              </a:lnSpc>
              <a:spcAft>
                <a:spcPts val="990"/>
              </a:spcAft>
            </a:pPr>
            <a:r>
              <a:rPr sz="1800" b="1">
                <a:solidFill>
                  <a:srgbClr val="5B7FB5"/>
                </a:solidFill>
                <a:latin typeface="Calibri"/>
              </a:rPr>
              <a:t>•  </a:t>
            </a:r>
            <a:r>
              <a:rPr sz="1800">
                <a:solidFill>
                  <a:srgbClr val="333333"/>
                </a:solidFill>
                <a:latin typeface="Calibri"/>
              </a:rPr>
              <a:t>The test window (shaded) captures both of the sharpest, least-precedented moves in the entire 21-year series</a:t>
            </a:r>
          </a:p>
        </p:txBody>
      </p:sp>
      <p:pic>
        <p:nvPicPr>
          <p:cNvPr id="5" name="Picture 4" descr="nb_img_02_8925a1c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755204"/>
            <a:ext cx="5882335" cy="426199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09441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B6B6B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C3E50"/>
                </a:solidFill>
                <a:latin typeface="Calibri"/>
              </a:rPr>
              <a:t>Variable Selection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1094415" cy="27940"/>
          </a:xfrm>
          <a:prstGeom prst="rect">
            <a:avLst/>
          </a:prstGeom>
          <a:solidFill>
            <a:srgbClr val="5B7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51206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935"/>
              </a:spcAft>
            </a:pPr>
            <a:r>
              <a:rPr sz="1700" b="1">
                <a:solidFill>
                  <a:srgbClr val="5B7FB5"/>
                </a:solidFill>
                <a:latin typeface="Calibri"/>
              </a:rPr>
              <a:t>•  </a:t>
            </a:r>
            <a:r>
              <a:rPr sz="1700">
                <a:solidFill>
                  <a:srgbClr val="333333"/>
                </a:solidFill>
                <a:latin typeface="Calibri"/>
              </a:rPr>
              <a:t>DXY_INDX: -0.43 correlation — the dollar-index relationship called out in the brief</a:t>
            </a:r>
          </a:p>
          <a:p>
            <a:pPr>
              <a:lnSpc>
                <a:spcPct val="115000"/>
              </a:lnSpc>
              <a:spcAft>
                <a:spcPts val="935"/>
              </a:spcAft>
            </a:pPr>
            <a:r>
              <a:rPr sz="1700" b="1">
                <a:solidFill>
                  <a:srgbClr val="5B7FB5"/>
                </a:solidFill>
                <a:latin typeface="Calibri"/>
              </a:rPr>
              <a:t>•  </a:t>
            </a:r>
            <a:r>
              <a:rPr sz="1700">
                <a:solidFill>
                  <a:srgbClr val="333333"/>
                </a:solidFill>
                <a:latin typeface="Calibri"/>
              </a:rPr>
              <a:t>Rig count: +0.81, but contemporaneous — it reacts to price rather than leading it</a:t>
            </a:r>
          </a:p>
          <a:p>
            <a:pPr>
              <a:lnSpc>
                <a:spcPct val="115000"/>
              </a:lnSpc>
              <a:spcAft>
                <a:spcPts val="935"/>
              </a:spcAft>
            </a:pPr>
            <a:r>
              <a:rPr sz="1700" b="1">
                <a:solidFill>
                  <a:srgbClr val="5B7FB5"/>
                </a:solidFill>
                <a:latin typeface="Calibri"/>
              </a:rPr>
              <a:t>•  </a:t>
            </a:r>
            <a:r>
              <a:rPr sz="1700">
                <a:solidFill>
                  <a:srgbClr val="333333"/>
                </a:solidFill>
                <a:latin typeface="Calibri"/>
              </a:rPr>
              <a:t>Storage &amp; temperature: correct sign, weak in raw monthly levels</a:t>
            </a:r>
          </a:p>
          <a:p>
            <a:pPr>
              <a:lnSpc>
                <a:spcPct val="115000"/>
              </a:lnSpc>
              <a:spcAft>
                <a:spcPts val="935"/>
              </a:spcAft>
            </a:pPr>
            <a:r>
              <a:rPr sz="1700" b="1">
                <a:solidFill>
                  <a:srgbClr val="5B7FB5"/>
                </a:solidFill>
                <a:latin typeface="Calibri"/>
              </a:rPr>
              <a:t>•  </a:t>
            </a:r>
            <a:r>
              <a:rPr sz="1700">
                <a:solidFill>
                  <a:srgbClr val="333333"/>
                </a:solidFill>
                <a:latin typeface="Calibri"/>
              </a:rPr>
              <a:t>Final feature set (8 features): target lags (1,2,3,6,12), calendar seasonality (sin/cos of month), US storage month-over-month delta</a:t>
            </a:r>
          </a:p>
          <a:p>
            <a:pPr>
              <a:lnSpc>
                <a:spcPct val="115000"/>
              </a:lnSpc>
              <a:spcAft>
                <a:spcPts val="935"/>
              </a:spcAft>
            </a:pPr>
            <a:r>
              <a:rPr sz="1500" b="1">
                <a:solidFill>
                  <a:srgbClr val="6B6B6B"/>
                </a:solidFill>
                <a:latin typeface="Calibri"/>
              </a:rPr>
              <a:t>-  </a:t>
            </a:r>
            <a:r>
              <a:rPr sz="1500">
                <a:solidFill>
                  <a:srgbClr val="333333"/>
                </a:solidFill>
                <a:latin typeface="Calibri"/>
              </a:rPr>
              <a:t>Target and US storage are 100%-populated in train — this set needs no imputation</a:t>
            </a:r>
          </a:p>
        </p:txBody>
      </p:sp>
      <p:pic>
        <p:nvPicPr>
          <p:cNvPr id="5" name="Picture 4" descr="nb_img_03_0ed6906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121927"/>
            <a:ext cx="5699455" cy="352854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09441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B6B6B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C3E50"/>
                </a:solidFill>
                <a:latin typeface="Calibri"/>
              </a:rPr>
              <a:t>Modeling Approach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1094415" cy="27940"/>
          </a:xfrm>
          <a:prstGeom prst="rect">
            <a:avLst/>
          </a:prstGeom>
          <a:solidFill>
            <a:srgbClr val="5B7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9441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45"/>
              </a:spcAft>
            </a:pPr>
            <a:r>
              <a:rPr sz="1900" b="1">
                <a:solidFill>
                  <a:srgbClr val="5B7FB5"/>
                </a:solidFill>
                <a:latin typeface="Calibri"/>
              </a:rPr>
              <a:t>•  </a:t>
            </a:r>
            <a:r>
              <a:rPr sz="1900">
                <a:solidFill>
                  <a:srgbClr val="333333"/>
                </a:solidFill>
                <a:latin typeface="Calibri"/>
              </a:rPr>
              <a:t>Naive random-walk baseline (carry the last value forward) — the number every model has to beat</a:t>
            </a:r>
          </a:p>
          <a:p>
            <a:pPr>
              <a:lnSpc>
                <a:spcPct val="115000"/>
              </a:lnSpc>
              <a:spcAft>
                <a:spcPts val="1045"/>
              </a:spcAft>
            </a:pPr>
            <a:r>
              <a:rPr sz="1900" b="1">
                <a:solidFill>
                  <a:srgbClr val="5B7FB5"/>
                </a:solidFill>
                <a:latin typeface="Calibri"/>
              </a:rPr>
              <a:t>•  </a:t>
            </a:r>
            <a:r>
              <a:rPr sz="1900">
                <a:solidFill>
                  <a:srgbClr val="333333"/>
                </a:solidFill>
                <a:latin typeface="Calibri"/>
              </a:rPr>
              <a:t>Direct strategy: one model per horizon (h=1, h=2, h=3), not recursive — avoids compounding errors</a:t>
            </a:r>
          </a:p>
          <a:p>
            <a:pPr>
              <a:lnSpc>
                <a:spcPct val="115000"/>
              </a:lnSpc>
              <a:spcAft>
                <a:spcPts val="1045"/>
              </a:spcAft>
            </a:pPr>
            <a:r>
              <a:rPr sz="1900" b="1">
                <a:solidFill>
                  <a:srgbClr val="5B7FB5"/>
                </a:solidFill>
                <a:latin typeface="Calibri"/>
              </a:rPr>
              <a:t>•  </a:t>
            </a:r>
            <a:r>
              <a:rPr sz="1900">
                <a:solidFill>
                  <a:srgbClr val="333333"/>
                </a:solidFill>
                <a:latin typeface="Calibri"/>
              </a:rPr>
              <a:t>Candidates: Ridge &amp; Lasso (time-series-aware CV) and LightGBM (Optuna, 30 trials per horizon)</a:t>
            </a:r>
          </a:p>
          <a:p>
            <a:pPr>
              <a:lnSpc>
                <a:spcPct val="115000"/>
              </a:lnSpc>
              <a:spcAft>
                <a:spcPts val="1045"/>
              </a:spcAft>
            </a:pPr>
            <a:r>
              <a:rPr sz="1900" b="1">
                <a:solidFill>
                  <a:srgbClr val="5B7FB5"/>
                </a:solidFill>
                <a:latin typeface="Calibri"/>
              </a:rPr>
              <a:t>•  </a:t>
            </a:r>
            <a:r>
              <a:rPr sz="1900">
                <a:solidFill>
                  <a:srgbClr val="333333"/>
                </a:solidFill>
                <a:latin typeface="Calibri"/>
              </a:rPr>
              <a:t>Key fix: every model predicts the change in price, not its level — a first pass at Ridge on raw price levels lost to the naive baseline because of collinearity among the 5 lag features</a:t>
            </a:r>
          </a:p>
          <a:p>
            <a:pPr>
              <a:lnSpc>
                <a:spcPct val="115000"/>
              </a:lnSpc>
              <a:spcAft>
                <a:spcPts val="1045"/>
              </a:spcAft>
            </a:pPr>
            <a:r>
              <a:rPr sz="1900" b="1">
                <a:solidFill>
                  <a:srgbClr val="5B7FB5"/>
                </a:solidFill>
                <a:latin typeface="Calibri"/>
              </a:rPr>
              <a:t>•  </a:t>
            </a:r>
            <a:r>
              <a:rPr sz="1900">
                <a:solidFill>
                  <a:srgbClr val="333333"/>
                </a:solidFill>
                <a:latin typeface="Calibri"/>
              </a:rPr>
              <a:t>All tuning and model selection uses a 2017–2020 validation window inside train; the test period is never touched until the final backtest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B6B6B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5B7FB5"/>
                </a:solidFill>
                <a:latin typeface="Calibri"/>
              </a:rPr>
              <a:t>2017-01 to 2020-08, train only
</a:t>
            </a:r>
            <a:r>
              <a:rPr sz="3000" b="1">
                <a:solidFill>
                  <a:srgbClr val="2C3E50"/>
                </a:solidFill>
                <a:latin typeface="Calibri"/>
              </a:rPr>
              <a:t>Validation 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1094415" cy="27940"/>
          </a:xfrm>
          <a:prstGeom prst="rect">
            <a:avLst/>
          </a:prstGeom>
          <a:solidFill>
            <a:srgbClr val="5B7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51206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80"/>
              </a:spcAft>
            </a:pPr>
            <a:r>
              <a:rPr sz="1600" b="1">
                <a:solidFill>
                  <a:srgbClr val="5B7FB5"/>
                </a:solidFill>
                <a:latin typeface="Calibri"/>
              </a:rPr>
              <a:t>•  </a:t>
            </a:r>
            <a:r>
              <a:rPr sz="1600">
                <a:solidFill>
                  <a:srgbClr val="333333"/>
                </a:solidFill>
                <a:latin typeface="Calibri"/>
              </a:rPr>
              <a:t>MAPE by horizon (h=1 / h=2 / h=3):</a:t>
            </a:r>
          </a:p>
          <a:p>
            <a:pPr>
              <a:lnSpc>
                <a:spcPct val="115000"/>
              </a:lnSpc>
              <a:spcAft>
                <a:spcPts val="880"/>
              </a:spcAft>
            </a:pPr>
            <a:r>
              <a:rPr sz="1400" b="1">
                <a:solidFill>
                  <a:srgbClr val="6B6B6B"/>
                </a:solidFill>
                <a:latin typeface="Calibri"/>
              </a:rPr>
              <a:t>-  </a:t>
            </a:r>
            <a:r>
              <a:rPr sz="1400">
                <a:solidFill>
                  <a:srgbClr val="333333"/>
                </a:solidFill>
                <a:latin typeface="Calibri"/>
              </a:rPr>
              <a:t>naive: 7.71% / 10.07% / 12.61%</a:t>
            </a:r>
          </a:p>
          <a:p>
            <a:pPr>
              <a:lnSpc>
                <a:spcPct val="115000"/>
              </a:lnSpc>
              <a:spcAft>
                <a:spcPts val="880"/>
              </a:spcAft>
            </a:pPr>
            <a:r>
              <a:rPr sz="1400" b="1">
                <a:solidFill>
                  <a:srgbClr val="6B6B6B"/>
                </a:solidFill>
                <a:latin typeface="Calibri"/>
              </a:rPr>
              <a:t>-  </a:t>
            </a:r>
            <a:r>
              <a:rPr sz="1400">
                <a:solidFill>
                  <a:srgbClr val="333333"/>
                </a:solidFill>
                <a:latin typeface="Calibri"/>
              </a:rPr>
              <a:t>Ridge: 7.77% / 10.48% / 13.71%</a:t>
            </a:r>
          </a:p>
          <a:p>
            <a:pPr>
              <a:lnSpc>
                <a:spcPct val="115000"/>
              </a:lnSpc>
              <a:spcAft>
                <a:spcPts val="880"/>
              </a:spcAft>
            </a:pPr>
            <a:r>
              <a:rPr sz="1400" b="1">
                <a:solidFill>
                  <a:srgbClr val="6B6B6B"/>
                </a:solidFill>
                <a:latin typeface="Calibri"/>
              </a:rPr>
              <a:t>-  </a:t>
            </a:r>
            <a:r>
              <a:rPr sz="1400">
                <a:solidFill>
                  <a:srgbClr val="333333"/>
                </a:solidFill>
                <a:latin typeface="Calibri"/>
              </a:rPr>
              <a:t>Lasso: 7.70% / 9.79% / 12.33%</a:t>
            </a:r>
          </a:p>
          <a:p>
            <a:pPr>
              <a:lnSpc>
                <a:spcPct val="115000"/>
              </a:lnSpc>
              <a:spcAft>
                <a:spcPts val="880"/>
              </a:spcAft>
            </a:pPr>
            <a:r>
              <a:rPr sz="1400" b="1">
                <a:solidFill>
                  <a:srgbClr val="6B6B6B"/>
                </a:solidFill>
                <a:latin typeface="Calibri"/>
              </a:rPr>
              <a:t>-  </a:t>
            </a:r>
            <a:r>
              <a:rPr sz="1400">
                <a:solidFill>
                  <a:srgbClr val="333333"/>
                </a:solidFill>
                <a:latin typeface="Calibri"/>
              </a:rPr>
              <a:t>LightGBM: 7.15% / 8.63% / 11.20%</a:t>
            </a:r>
          </a:p>
          <a:p>
            <a:pPr>
              <a:lnSpc>
                <a:spcPct val="115000"/>
              </a:lnSpc>
              <a:spcAft>
                <a:spcPts val="880"/>
              </a:spcAft>
            </a:pPr>
            <a:r>
              <a:rPr sz="1600" b="1">
                <a:solidFill>
                  <a:srgbClr val="5B7FB5"/>
                </a:solidFill>
                <a:latin typeface="Calibri"/>
              </a:rPr>
              <a:t>•  </a:t>
            </a:r>
            <a:r>
              <a:rPr sz="1600">
                <a:solidFill>
                  <a:srgbClr val="333333"/>
                </a:solidFill>
                <a:latin typeface="Calibri"/>
              </a:rPr>
              <a:t>LightGBM beats the naive baseline at every horizon; the margin widens with horizon</a:t>
            </a:r>
          </a:p>
          <a:p>
            <a:pPr>
              <a:lnSpc>
                <a:spcPct val="115000"/>
              </a:lnSpc>
              <a:spcAft>
                <a:spcPts val="880"/>
              </a:spcAft>
            </a:pPr>
            <a:r>
              <a:rPr sz="1600" b="1">
                <a:solidFill>
                  <a:srgbClr val="5B7FB5"/>
                </a:solidFill>
                <a:latin typeface="Calibri"/>
              </a:rPr>
              <a:t>•  </a:t>
            </a:r>
            <a:r>
              <a:rPr sz="1600">
                <a:solidFill>
                  <a:srgbClr val="333333"/>
                </a:solidFill>
                <a:latin typeface="Calibri"/>
              </a:rPr>
              <a:t>Lasso's sparsity gets it to roughly naive-or-better; Ridge, which can't zero out weak features, trails slightly at h=2/h=3</a:t>
            </a:r>
          </a:p>
        </p:txBody>
      </p:sp>
      <p:pic>
        <p:nvPicPr>
          <p:cNvPr id="5" name="Picture 4" descr="nb_img_05_385faaa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119894"/>
            <a:ext cx="5699455" cy="353261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09441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B6B6B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5B7FB5"/>
                </a:solidFill>
                <a:latin typeface="Calibri"/>
              </a:rPr>
              <a:t>Test backtest, 2020-09 to 2024-08
</a:t>
            </a:r>
            <a:r>
              <a:rPr sz="3000" b="1">
                <a:solidFill>
                  <a:srgbClr val="2C3E50"/>
                </a:solidFill>
                <a:latin typeface="Calibri"/>
              </a:rPr>
              <a:t>Final Accuracy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1094415" cy="27940"/>
          </a:xfrm>
          <a:prstGeom prst="rect">
            <a:avLst/>
          </a:prstGeom>
          <a:solidFill>
            <a:srgbClr val="5B7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94415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80"/>
              </a:spcAft>
            </a:pPr>
            <a:r>
              <a:rPr sz="1600" b="1">
                <a:solidFill>
                  <a:srgbClr val="5B7FB5"/>
                </a:solidFill>
                <a:latin typeface="Calibri"/>
              </a:rPr>
              <a:t>•  </a:t>
            </a:r>
            <a:r>
              <a:rPr sz="1600">
                <a:solidFill>
                  <a:srgbClr val="333333"/>
                </a:solidFill>
                <a:latin typeface="Calibri"/>
              </a:rPr>
              <a:t>Expanding-window backtest: retrain monthly on train + test-to-date, exactly the walk-forward rule</a:t>
            </a:r>
          </a:p>
          <a:p>
            <a:pPr>
              <a:lnSpc>
                <a:spcPct val="115000"/>
              </a:lnSpc>
              <a:spcAft>
                <a:spcPts val="880"/>
              </a:spcAft>
            </a:pPr>
            <a:r>
              <a:rPr sz="1600" b="1">
                <a:solidFill>
                  <a:srgbClr val="5B7FB5"/>
                </a:solidFill>
                <a:latin typeface="Calibri"/>
              </a:rPr>
              <a:t>•  </a:t>
            </a:r>
            <a:r>
              <a:rPr sz="1600">
                <a:solidFill>
                  <a:srgbClr val="333333"/>
                </a:solidFill>
                <a:latin typeface="Calibri"/>
              </a:rPr>
              <a:t>Test MAPE (h=1/2/3): naive 13.65% / 22.92% / 29.18%  vs.  LightGBM 13.63% / 20.63% / 27.03% — LightGBM wins at every horizon</a:t>
            </a:r>
          </a:p>
          <a:p>
            <a:pPr>
              <a:lnSpc>
                <a:spcPct val="115000"/>
              </a:lnSpc>
              <a:spcAft>
                <a:spcPts val="880"/>
              </a:spcAft>
            </a:pPr>
            <a:r>
              <a:rPr sz="1600" b="1">
                <a:solidFill>
                  <a:srgbClr val="5B7FB5"/>
                </a:solidFill>
                <a:latin typeface="Calibri"/>
              </a:rPr>
              <a:t>•  </a:t>
            </a:r>
            <a:r>
              <a:rPr sz="1600">
                <a:solidFill>
                  <a:srgbClr val="333333"/>
                </a:solidFill>
                <a:latin typeface="Calibri"/>
              </a:rPr>
              <a:t>Error roughly doubles vs. validation — the test period includes two regime shifts (Texas freeze, Ukraine spike) absent from training history</a:t>
            </a:r>
          </a:p>
        </p:txBody>
      </p:sp>
      <p:pic>
        <p:nvPicPr>
          <p:cNvPr id="5" name="Picture 4" descr="nb_img_06_ab7d068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5288" y="3337560"/>
            <a:ext cx="6821118" cy="3063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09441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B6B6B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C3E50"/>
                </a:solidFill>
                <a:latin typeface="Calibri"/>
              </a:rPr>
              <a:t>Error Analysis &amp; Inflection Points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1094415" cy="27940"/>
          </a:xfrm>
          <a:prstGeom prst="rect">
            <a:avLst/>
          </a:prstGeom>
          <a:solidFill>
            <a:srgbClr val="5B7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94415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25"/>
              </a:spcAft>
            </a:pPr>
            <a:r>
              <a:rPr sz="1500" b="1">
                <a:solidFill>
                  <a:srgbClr val="5B7FB5"/>
                </a:solidFill>
                <a:latin typeface="Calibri"/>
              </a:rPr>
              <a:t>•  </a:t>
            </a:r>
            <a:r>
              <a:rPr sz="1500">
                <a:solidFill>
                  <a:srgbClr val="333333"/>
                </a:solidFill>
                <a:latin typeface="Calibri"/>
              </a:rPr>
              <a:t>Lag features dominate SHAP importance at both horizons; seasonality contributes least; storage delta is a real secondary signal</a:t>
            </a:r>
          </a:p>
          <a:p>
            <a:pPr>
              <a:lnSpc>
                <a:spcPct val="115000"/>
              </a:lnSpc>
              <a:spcAft>
                <a:spcPts val="825"/>
              </a:spcAft>
            </a:pPr>
            <a:r>
              <a:rPr sz="1500" b="1">
                <a:solidFill>
                  <a:srgbClr val="5B7FB5"/>
                </a:solidFill>
                <a:latin typeface="Calibri"/>
              </a:rPr>
              <a:t>•  </a:t>
            </a:r>
            <a:r>
              <a:rPr sz="1500">
                <a:solidFill>
                  <a:srgbClr val="333333"/>
                </a:solidFill>
                <a:latin typeface="Calibri"/>
              </a:rPr>
              <a:t>Texas freeze (Jan→Feb 2021): model predicted a decline (2.65→2.59); actual rose to 2.92 (-11.3%) — a large storage withdrawal read as bearish, while the freeze cut supply and spiked demand at once</a:t>
            </a:r>
          </a:p>
          <a:p>
            <a:pPr>
              <a:lnSpc>
                <a:spcPct val="115000"/>
              </a:lnSpc>
              <a:spcAft>
                <a:spcPts val="825"/>
              </a:spcAft>
            </a:pPr>
            <a:r>
              <a:rPr sz="1500" b="1">
                <a:solidFill>
                  <a:srgbClr val="5B7FB5"/>
                </a:solidFill>
                <a:latin typeface="Calibri"/>
              </a:rPr>
              <a:t>•  </a:t>
            </a:r>
            <a:r>
              <a:rPr sz="1500">
                <a:solidFill>
                  <a:srgbClr val="333333"/>
                </a:solidFill>
                <a:latin typeface="Calibri"/>
              </a:rPr>
              <a:t>Ukraine invasion (Jan→Feb 2022): smaller miss (-4.0%) — the US move was indirect, via LNG exports, and lagged the invasion itself</a:t>
            </a:r>
          </a:p>
          <a:p>
            <a:pPr>
              <a:lnSpc>
                <a:spcPct val="115000"/>
              </a:lnSpc>
              <a:spcAft>
                <a:spcPts val="825"/>
              </a:spcAft>
            </a:pPr>
            <a:r>
              <a:rPr sz="1500" b="1">
                <a:solidFill>
                  <a:srgbClr val="5B7FB5"/>
                </a:solidFill>
                <a:latin typeface="Calibri"/>
              </a:rPr>
              <a:t>•  </a:t>
            </a:r>
            <a:r>
              <a:rPr sz="1500">
                <a:solidFill>
                  <a:srgbClr val="333333"/>
                </a:solidFill>
                <a:latin typeface="Calibri"/>
              </a:rPr>
              <a:t>Freeport LNG fire (May→Jun 2022): model overshoots (+9.5%), extrapolating the ongoing rally right as a discrete outage reversed it</a:t>
            </a:r>
          </a:p>
        </p:txBody>
      </p:sp>
      <p:pic>
        <p:nvPicPr>
          <p:cNvPr id="5" name="Picture 4" descr="nb_img_07_40bcd20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755" y="3703320"/>
            <a:ext cx="6558185" cy="2697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09441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B6B6B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C3E50"/>
                </a:solidFill>
                <a:latin typeface="Calibri"/>
              </a:rPr>
              <a:t>Limitations &amp; 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1094415" cy="27940"/>
          </a:xfrm>
          <a:prstGeom prst="rect">
            <a:avLst/>
          </a:prstGeom>
          <a:solidFill>
            <a:srgbClr val="5B7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9441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45"/>
              </a:spcAft>
            </a:pPr>
            <a:r>
              <a:rPr sz="1900" b="1">
                <a:solidFill>
                  <a:srgbClr val="5B7FB5"/>
                </a:solidFill>
                <a:latin typeface="Calibri"/>
              </a:rPr>
              <a:t>•  </a:t>
            </a:r>
            <a:r>
              <a:rPr sz="1900">
                <a:solidFill>
                  <a:srgbClr val="333333"/>
                </a:solidFill>
                <a:latin typeface="Calibri"/>
              </a:rPr>
              <a:t>Momentum-based model: strong at trend continuation, structurally blind to turning points caused by discrete supply/demand shocks</a:t>
            </a:r>
          </a:p>
          <a:p>
            <a:pPr>
              <a:lnSpc>
                <a:spcPct val="115000"/>
              </a:lnSpc>
              <a:spcAft>
                <a:spcPts val="1045"/>
              </a:spcAft>
            </a:pPr>
            <a:r>
              <a:rPr sz="1900" b="1">
                <a:solidFill>
                  <a:srgbClr val="5B7FB5"/>
                </a:solidFill>
                <a:latin typeface="Calibri"/>
              </a:rPr>
              <a:t>•  </a:t>
            </a:r>
            <a:r>
              <a:rPr sz="1900">
                <a:solidFill>
                  <a:srgbClr val="333333"/>
                </a:solidFill>
                <a:latin typeface="Calibri"/>
              </a:rPr>
              <a:t>Feature set intentionally minimal (8 features) for 204 training rows — the right tradeoff for this sample size, but it caps the ceiling</a:t>
            </a:r>
          </a:p>
          <a:p>
            <a:pPr>
              <a:lnSpc>
                <a:spcPct val="115000"/>
              </a:lnSpc>
              <a:spcAft>
                <a:spcPts val="1045"/>
              </a:spcAft>
            </a:pPr>
            <a:r>
              <a:rPr sz="1900" b="1">
                <a:solidFill>
                  <a:srgbClr val="5B7FB5"/>
                </a:solidFill>
                <a:latin typeface="Calibri"/>
              </a:rPr>
              <a:t>•  </a:t>
            </a:r>
            <a:r>
              <a:rPr sz="1900">
                <a:solidFill>
                  <a:srgbClr val="333333"/>
                </a:solidFill>
                <a:latin typeface="Calibri"/>
              </a:rPr>
              <a:t>Next steps: forward-looking weather/degree-day data, LNG terminal utilization &amp; outage indicators, explicit event flags, ensemble with regime-detection</a:t>
            </a:r>
          </a:p>
          <a:p>
            <a:pPr>
              <a:lnSpc>
                <a:spcPct val="115000"/>
              </a:lnSpc>
              <a:spcAft>
                <a:spcPts val="1045"/>
              </a:spcAft>
            </a:pPr>
            <a:r>
              <a:rPr sz="1900" b="1">
                <a:solidFill>
                  <a:srgbClr val="5B7FB5"/>
                </a:solidFill>
                <a:latin typeface="Calibri"/>
              </a:rPr>
              <a:t>•  </a:t>
            </a:r>
            <a:r>
              <a:rPr sz="1900">
                <a:solidFill>
                  <a:srgbClr val="333333"/>
                </a:solidFill>
                <a:latin typeface="Calibri"/>
              </a:rPr>
              <a:t>Deliverables: solution.ipynb (full pipeline, executed end-to-end), submission.csv (validated format), this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B6B6B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965</Words>
  <Application>Microsoft Office PowerPoint</Application>
  <PresentationFormat>Widescreen</PresentationFormat>
  <Paragraphs>60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Henry Hub Natural Gas Price Forecasting</dc:title>
  <dc:subject/>
  <dc:creator/>
  <cp:keywords/>
  <dc:description/>
  <cp:lastModifiedBy/>
  <cp:revision>2</cp:revision>
  <dcterms:created xsi:type="dcterms:W3CDTF">2024-07-30T14:00:00Z</dcterms:created>
  <dcterms:modified xsi:type="dcterms:W3CDTF">2024-07-30T14:00:00Z</dcterms:modified>
  <cp:category/>
  <cp:contentStatus/>
  <dc:identifier/>
  <dc:language/>
  <cp:version/>
</cp:coreProperties>
</file>